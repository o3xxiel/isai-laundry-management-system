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/>
            <a:r>
              <a:rPr sz="1100" b="1">
                <a:solidFill>
                  <a:srgbClr val="0A524D"/>
                </a:solidFill>
                <a:latin typeface="Calibri"/>
              </a:rPr>
              <a:t>FASE 3 · INFORME DE ANÁLISIS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142422"/>
                </a:solidFill>
                <a:latin typeface="Georgia"/>
              </a:rPr>
              <a:t>Sistema de Gestión para</a:t>
            </a:r>
          </a:p>
          <a:p>
            <a:pPr algn="l">
              <a:lnSpc>
                <a:spcPct val="105000"/>
              </a:lnSpc>
            </a:pPr>
            <a:r>
              <a:rPr sz="4200" b="1">
                <a:solidFill>
                  <a:srgbClr val="142422"/>
                </a:solidFill>
                <a:latin typeface="Georgia"/>
              </a:rPr>
              <a:t>Lavandería ISAI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B615D"/>
                </a:solidFill>
                <a:latin typeface="Calibri"/>
              </a:rPr>
              <a:t>Cliente: Uriel Sierra — Cobán, Alta Verapaz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B615D"/>
                </a:solidFill>
                <a:latin typeface="Calibri"/>
              </a:rPr>
              <a:t>Universidad de San Carlos de Guatemala — CUNOR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4B615D"/>
                </a:solidFill>
                <a:latin typeface="Calibri"/>
              </a:rPr>
              <a:t>Ingeniería en Ciencias y Sistemas · Software Avanzado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4B615D"/>
                </a:solidFill>
                <a:latin typeface="Calibri"/>
              </a:rPr>
              <a:t>Óscar Ozziel Yaxcal Leal — 202240349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/>
            <a:r>
              <a:rPr sz="1100" b="1">
                <a:solidFill>
                  <a:srgbClr val="0A524D"/>
                </a:solidFill>
                <a:latin typeface="Calibri"/>
              </a:rPr>
              <a:t>1 ·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2422"/>
                </a:solidFill>
                <a:latin typeface="Georgia"/>
              </a:rPr>
              <a:t>El problema: cobrar por bolsa, no por peso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035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142422"/>
                </a:solidFill>
                <a:latin typeface="Calibri"/>
              </a:rPr>
              <a:t>—  ISAI opera con 2 personas y 8–12 pedidos diarios.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142422"/>
                </a:solidFill>
                <a:latin typeface="Calibri"/>
              </a:rPr>
              <a:t>—  Hoy se cobra según el tamaño de la bolsa, no el peso real.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142422"/>
                </a:solidFill>
                <a:latin typeface="Calibri"/>
              </a:rPr>
              <a:t>—  Esto genera cobros inconsistentes entre pedidos equivalentes.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142422"/>
                </a:solidFill>
                <a:latin typeface="Calibri"/>
              </a:rPr>
              <a:t>—  El sistema estandariza con: total = peso_libras × precio_por_libra.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783080"/>
            <a:ext cx="4480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1892808"/>
            <a:ext cx="1828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524D"/>
                </a:solidFill>
                <a:latin typeface="Georg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892808"/>
            <a:ext cx="26517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615D"/>
                </a:solidFill>
                <a:latin typeface="Calibri"/>
              </a:rPr>
              <a:t>empleados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3246120"/>
            <a:ext cx="4480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3355848"/>
            <a:ext cx="1828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524D"/>
                </a:solidFill>
                <a:latin typeface="Georgia"/>
              </a:rPr>
              <a:t>8–12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355848"/>
            <a:ext cx="26517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615D"/>
                </a:solidFill>
                <a:latin typeface="Calibri"/>
              </a:rPr>
              <a:t>pedidos / día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4709160"/>
            <a:ext cx="4480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4818888"/>
            <a:ext cx="1828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A524D"/>
                </a:solidFill>
                <a:latin typeface="Georgia"/>
              </a:rPr>
              <a:t>~Q800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818888"/>
            <a:ext cx="26517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615D"/>
                </a:solidFill>
                <a:latin typeface="Calibri"/>
              </a:rPr>
              <a:t>ingreso mensual actual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6172200"/>
            <a:ext cx="4480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6281928"/>
            <a:ext cx="1828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A2611A"/>
                </a:solidFill>
                <a:latin typeface="Georgia"/>
              </a:rPr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6281928"/>
            <a:ext cx="26517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615D"/>
                </a:solidFill>
                <a:latin typeface="Calibri"/>
              </a:rPr>
              <a:t>pérdida por cobro inconsistente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/>
            <a:r>
              <a:rPr sz="1100" b="1">
                <a:solidFill>
                  <a:srgbClr val="0A524D"/>
                </a:solidFill>
                <a:latin typeface="Calibri"/>
              </a:rPr>
              <a:t>2 · DIAGRAMA DE FLUJO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2422"/>
                </a:solidFill>
                <a:latin typeface="Georgia"/>
              </a:rPr>
              <a:t>Nivel 0 — Contexto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291840"/>
            <a:ext cx="2377440" cy="1005840"/>
          </a:xfrm>
          <a:prstGeom prst="ellipse">
            <a:avLst/>
          </a:prstGeom>
          <a:solidFill>
            <a:srgbClr val="DCEEEC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0A524D"/>
                </a:solidFill>
                <a:latin typeface="Calibri"/>
              </a:rPr>
              <a:t>Cliente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3017520"/>
            <a:ext cx="2560320" cy="1554480"/>
          </a:xfrm>
          <a:prstGeom prst="roundRect">
            <a:avLst>
              <a:gd name="adj" fmla="val 12000"/>
            </a:avLst>
          </a:prstGeom>
          <a:solidFill>
            <a:srgbClr val="0E6E68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Sistema ISAI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Gestión de Lavandería</a:t>
            </a:r>
          </a:p>
        </p:txBody>
      </p:sp>
      <p:sp>
        <p:nvSpPr>
          <p:cNvPr id="7" name="Oval 6"/>
          <p:cNvSpPr/>
          <p:nvPr/>
        </p:nvSpPr>
        <p:spPr>
          <a:xfrm>
            <a:off x="8961120" y="3291840"/>
            <a:ext cx="2377440" cy="1005840"/>
          </a:xfrm>
          <a:prstGeom prst="ellipse">
            <a:avLst/>
          </a:prstGeom>
          <a:solidFill>
            <a:srgbClr val="DCEEEC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0A524D"/>
                </a:solidFill>
                <a:latin typeface="Calibri"/>
              </a:rPr>
              <a:t>Operador /</a:t>
            </a:r>
            <a:br/>
            <a:r>
              <a:rPr sz="1300" b="1">
                <a:solidFill>
                  <a:srgbClr val="0A524D"/>
                </a:solidFill>
                <a:latin typeface="Calibri"/>
              </a:rPr>
              <a:t>Encargado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3520440"/>
            <a:ext cx="1737360" cy="0"/>
          </a:xfrm>
          <a:prstGeom prst="line">
            <a:avLst/>
          </a:prstGeom>
          <a:ln w="19050">
            <a:solidFill>
              <a:srgbClr val="0E6E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71800" y="32644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4B615D"/>
                </a:solidFill>
                <a:latin typeface="Calibri"/>
              </a:rPr>
              <a:t>ropa, servicio solicitado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108960" y="3931920"/>
            <a:ext cx="1737360" cy="0"/>
          </a:xfrm>
          <a:prstGeom prst="line">
            <a:avLst/>
          </a:prstGeom>
          <a:ln w="19050">
            <a:solidFill>
              <a:srgbClr val="0E6E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71800" y="36758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4B615D"/>
                </a:solidFill>
                <a:latin typeface="Calibri"/>
              </a:rPr>
              <a:t>total a pagar, comprobante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6640" y="3520440"/>
            <a:ext cx="1554480" cy="0"/>
          </a:xfrm>
          <a:prstGeom prst="line">
            <a:avLst/>
          </a:prstGeom>
          <a:ln w="19050">
            <a:solidFill>
              <a:srgbClr val="0E6E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78040" y="32644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4B615D"/>
                </a:solidFill>
                <a:latin typeface="Calibri"/>
              </a:rPr>
              <a:t>pedidos, insumos, credenciales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406640" y="3931920"/>
            <a:ext cx="1554480" cy="0"/>
          </a:xfrm>
          <a:prstGeom prst="line">
            <a:avLst/>
          </a:prstGeom>
          <a:ln w="19050">
            <a:solidFill>
              <a:srgbClr val="0E6E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78040" y="36758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4B615D"/>
                </a:solidFill>
                <a:latin typeface="Calibri"/>
              </a:rPr>
              <a:t>estado, alertas, KPIs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/>
            <a:r>
              <a:rPr sz="1100" b="1">
                <a:solidFill>
                  <a:srgbClr val="0A524D"/>
                </a:solidFill>
                <a:latin typeface="Calibri"/>
              </a:rPr>
              <a:t>2 · DIAGRAMA DE FLUJO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2422"/>
                </a:solidFill>
                <a:latin typeface="Georgia"/>
              </a:rPr>
              <a:t>Nivel 1 — Procesos y almacenes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A524D"/>
                </a:solidFill>
                <a:latin typeface="Calibri"/>
              </a:rPr>
              <a:t>PROCESOS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4206240" cy="77724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1.0 Registrar pedido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063240"/>
            <a:ext cx="4206240" cy="77724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2.0 Controlar inventario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023360"/>
            <a:ext cx="4206240" cy="77724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3.0 Generar factura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983480"/>
            <a:ext cx="4206240" cy="777240"/>
          </a:xfrm>
          <a:prstGeom prst="ellipse">
            <a:avLst/>
          </a:prstGeom>
          <a:solidFill>
            <a:srgbClr val="0E6E68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4.0 Consultar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91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A524D"/>
                </a:solidFill>
                <a:latin typeface="Calibri"/>
              </a:rPr>
              <a:t>ALMACENES DE DATOS</a:t>
            </a:r>
          </a:p>
        </p:txBody>
      </p:sp>
      <p:sp>
        <p:nvSpPr>
          <p:cNvPr id="11" name="Bevel 10"/>
          <p:cNvSpPr/>
          <p:nvPr/>
        </p:nvSpPr>
        <p:spPr>
          <a:xfrm>
            <a:off x="7315200" y="2103120"/>
            <a:ext cx="4206240" cy="566928"/>
          </a:xfrm>
          <a:prstGeom prst="bevel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0">
                <a:solidFill>
                  <a:srgbClr val="142422"/>
                </a:solidFill>
                <a:latin typeface="Calibri"/>
              </a:rPr>
              <a:t>D1 clientes</a:t>
            </a:r>
          </a:p>
        </p:txBody>
      </p:sp>
      <p:sp>
        <p:nvSpPr>
          <p:cNvPr id="12" name="Bevel 11"/>
          <p:cNvSpPr/>
          <p:nvPr/>
        </p:nvSpPr>
        <p:spPr>
          <a:xfrm>
            <a:off x="7315200" y="2816352"/>
            <a:ext cx="4206240" cy="566928"/>
          </a:xfrm>
          <a:prstGeom prst="bevel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0">
                <a:solidFill>
                  <a:srgbClr val="142422"/>
                </a:solidFill>
                <a:latin typeface="Calibri"/>
              </a:rPr>
              <a:t>D2 servicios</a:t>
            </a:r>
          </a:p>
        </p:txBody>
      </p:sp>
      <p:sp>
        <p:nvSpPr>
          <p:cNvPr id="13" name="Bevel 12"/>
          <p:cNvSpPr/>
          <p:nvPr/>
        </p:nvSpPr>
        <p:spPr>
          <a:xfrm>
            <a:off x="7315200" y="3529584"/>
            <a:ext cx="4206240" cy="566928"/>
          </a:xfrm>
          <a:prstGeom prst="bevel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0">
                <a:solidFill>
                  <a:srgbClr val="142422"/>
                </a:solidFill>
                <a:latin typeface="Calibri"/>
              </a:rPr>
              <a:t>D3 pedidos</a:t>
            </a:r>
          </a:p>
        </p:txBody>
      </p:sp>
      <p:sp>
        <p:nvSpPr>
          <p:cNvPr id="14" name="Bevel 13"/>
          <p:cNvSpPr/>
          <p:nvPr/>
        </p:nvSpPr>
        <p:spPr>
          <a:xfrm>
            <a:off x="7315200" y="4242816"/>
            <a:ext cx="4206240" cy="566928"/>
          </a:xfrm>
          <a:prstGeom prst="bevel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0">
                <a:solidFill>
                  <a:srgbClr val="142422"/>
                </a:solidFill>
                <a:latin typeface="Calibri"/>
              </a:rPr>
              <a:t>D4 insumos</a:t>
            </a:r>
          </a:p>
        </p:txBody>
      </p:sp>
      <p:sp>
        <p:nvSpPr>
          <p:cNvPr id="15" name="Bevel 14"/>
          <p:cNvSpPr/>
          <p:nvPr/>
        </p:nvSpPr>
        <p:spPr>
          <a:xfrm>
            <a:off x="7315200" y="4956048"/>
            <a:ext cx="4206240" cy="566928"/>
          </a:xfrm>
          <a:prstGeom prst="bevel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0">
                <a:solidFill>
                  <a:srgbClr val="142422"/>
                </a:solidFill>
                <a:latin typeface="Calibri"/>
              </a:rPr>
              <a:t>D5 movimientos_insumo</a:t>
            </a:r>
          </a:p>
        </p:txBody>
      </p:sp>
      <p:sp>
        <p:nvSpPr>
          <p:cNvPr id="16" name="Bevel 15"/>
          <p:cNvSpPr/>
          <p:nvPr/>
        </p:nvSpPr>
        <p:spPr>
          <a:xfrm>
            <a:off x="7315200" y="5669280"/>
            <a:ext cx="4206240" cy="566928"/>
          </a:xfrm>
          <a:prstGeom prst="bevel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0">
                <a:solidFill>
                  <a:srgbClr val="142422"/>
                </a:solidFill>
                <a:latin typeface="Calibri"/>
              </a:rPr>
              <a:t>D6 facturas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937760" y="2386584.0"/>
            <a:ext cx="2377440" cy="100584.0"/>
          </a:xfrm>
          <a:prstGeom prst="line">
            <a:avLst/>
          </a:prstGeom>
          <a:ln w="19050">
            <a:solidFill>
              <a:srgbClr val="4B61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37760" y="3447288"/>
            <a:ext cx="2377440" cy="9144.0"/>
          </a:xfrm>
          <a:prstGeom prst="line">
            <a:avLst/>
          </a:prstGeom>
          <a:ln w="19050">
            <a:solidFill>
              <a:srgbClr val="4B61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937760" y="4407408"/>
            <a:ext cx="2377440" cy="118872.0"/>
          </a:xfrm>
          <a:prstGeom prst="line">
            <a:avLst/>
          </a:prstGeom>
          <a:ln w="19050">
            <a:solidFill>
              <a:srgbClr val="4B61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5367528"/>
            <a:ext cx="2377440" cy="228600.0"/>
          </a:xfrm>
          <a:prstGeom prst="line">
            <a:avLst/>
          </a:prstGeom>
          <a:ln w="19050">
            <a:solidFill>
              <a:srgbClr val="4B61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6080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B615D"/>
                </a:solidFill>
                <a:latin typeface="Calibri"/>
              </a:rPr>
              <a:t>Cada proceso lee/escribe en las tablas de PostgreSQL definidas en schema.prisma.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/>
            <a:r>
              <a:rPr sz="1100" b="1">
                <a:solidFill>
                  <a:srgbClr val="0A524D"/>
                </a:solidFill>
                <a:latin typeface="Calibri"/>
              </a:rPr>
              <a:t>3 · DICCIONARIO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2422"/>
                </a:solidFill>
                <a:latin typeface="Georgia"/>
              </a:rPr>
              <a:t>7 tablas — resumen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599"/>
                <a:gridCol w="5394960"/>
              </a:tblGrid>
              <a:tr h="5257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Tabla</a:t>
                      </a:r>
                    </a:p>
                  </a:txBody>
                  <a:tcPr anchor="ctr">
                    <a:solidFill>
                      <a:srgbClr val="0A5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Campos clave</a:t>
                      </a:r>
                    </a:p>
                  </a:txBody>
                  <a:tcPr anchor="ctr">
                    <a:solidFill>
                      <a:srgbClr val="0A5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Propósito</a:t>
                      </a:r>
                    </a:p>
                  </a:txBody>
                  <a:tcPr anchor="ctr">
                    <a:solidFill>
                      <a:srgbClr val="0A524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usuarios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usuario, contrasena_hash, rol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Acceso al sistema (login, roles)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clientes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nombre, telefono, correo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Personas que dejan ropa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servicios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nombre, precio_por_libra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Catálogo y tarifa por libra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pedidos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peso_libras, total, estado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Orden del POS; total = peso × tarifa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insumos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cantidad_actual, stock_minimo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Inventario y alertas de reabasto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movimientos_insumo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tipo (entrada/salida), cantidad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Bitácora de entradas/salidas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facturas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numero_factura, 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Comprobante emitido por pedido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B615D"/>
                </a:solidFill>
                <a:latin typeface="Calibri"/>
              </a:rPr>
              <a:t>Detalle completo de tipos y restricciones en el informe de análisis (artifact).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/>
            <a:r>
              <a:rPr sz="1100" b="1">
                <a:solidFill>
                  <a:srgbClr val="0A524D"/>
                </a:solidFill>
                <a:latin typeface="Calibri"/>
              </a:rPr>
              <a:t>4 · ESPECIFICACIONES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2422"/>
                </a:solidFill>
                <a:latin typeface="Georgia"/>
              </a:rPr>
              <a:t>Stack tecnológico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029199"/>
                <a:gridCol w="4023360"/>
              </a:tblGrid>
              <a:tr h="5181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</a:t>
                      </a:r>
                    </a:p>
                  </a:txBody>
                  <a:tcPr anchor="ctr">
                    <a:solidFill>
                      <a:srgbClr val="0A5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Tecnología</a:t>
                      </a:r>
                    </a:p>
                  </a:txBody>
                  <a:tcPr anchor="ctr">
                    <a:solidFill>
                      <a:srgbClr val="0A5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Hosting</a:t>
                      </a:r>
                    </a:p>
                  </a:txBody>
                  <a:tcPr anchor="ctr">
                    <a:solidFill>
                      <a:srgbClr val="0A524D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React 19 + Vite + TypeScript + React Router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Vercel (free tier)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Node.js + Express + TypeScript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Render (free tier)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Base de datos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PostgreSQL 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Neon (free tier) / local en desarrollo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ORM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Prisma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Autenticación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JWT (jsonwebtoken) + bcryptjs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/>
            <a:r>
              <a:rPr sz="1100" b="1">
                <a:solidFill>
                  <a:srgbClr val="0A524D"/>
                </a:solidFill>
                <a:latin typeface="Calibri"/>
              </a:rPr>
              <a:t>4 · ESPECIFICACIONES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2422"/>
                </a:solidFill>
                <a:latin typeface="Georgia"/>
              </a:rPr>
              <a:t>Autenticación y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42422"/>
                </a:solidFill>
                <a:latin typeface="Calibri"/>
              </a:rPr>
              <a:t>—  Login: bcrypt.compare() valida la contraseña contra el hash guardado (nunca texto plano).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42422"/>
                </a:solidFill>
                <a:latin typeface="Calibri"/>
              </a:rPr>
              <a:t>—  Sesión: JWT firmado (HS256, expira en 8h) guardado en cookie httpOnly — nunca en localStorage.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42422"/>
                </a:solidFill>
                <a:latin typeface="Calibri"/>
              </a:rPr>
              <a:t>—  Cookie con sameSite=lax y secure activado en producción.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42422"/>
                </a:solidFill>
                <a:latin typeface="Calibri"/>
              </a:rPr>
              <a:t>—  Middleware requireAuth protege todas las rutas de negocio; solo /api/auth/* queda abierto.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/>
            <a:r>
              <a:rPr sz="1100" b="1">
                <a:solidFill>
                  <a:srgbClr val="0A524D"/>
                </a:solidFill>
                <a:latin typeface="Calibri"/>
              </a:rPr>
              <a:t>4 · ESPECIFICACIONES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2422"/>
                </a:solidFill>
                <a:latin typeface="Georgia"/>
              </a:rPr>
              <a:t>Módulos y endpoints principales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4114800"/>
                <a:gridCol w="4846320"/>
              </a:tblGrid>
              <a:tr h="60089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Módulo</a:t>
                      </a:r>
                    </a:p>
                  </a:txBody>
                  <a:tcPr anchor="ctr">
                    <a:solidFill>
                      <a:srgbClr val="0A5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Endpoints</a:t>
                      </a:r>
                    </a:p>
                  </a:txBody>
                  <a:tcPr anchor="ctr">
                    <a:solidFill>
                      <a:srgbClr val="0A5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Función</a:t>
                      </a:r>
                    </a:p>
                  </a:txBody>
                  <a:tcPr anchor="ctr">
                    <a:solidFill>
                      <a:srgbClr val="0A524D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POST /login · /logout · GET /me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Sesión con cookie JWT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Pedidos (POS)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GET/POST /pedidos · PATCH /:id/estado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Registro y cálculo automático del cobro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Inventario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GET /alertas · POST /movimientos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Entradas/salidas y stock bajo mínimo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Facturación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GET/POST /facturacion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Genera comprobante con numero_factura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Dashboard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GET /dashboard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Pedidos e ingresos del día, alertas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Clientes / Servicios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GET/POST /clientes · /servicios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22"/>
                          </a:solidFill>
                          <a:latin typeface="Calibri"/>
                        </a:defRPr>
                      </a:pPr>
                      <a:r>
                        <a:t>Catálogos usados por el POS</a:t>
                      </a:r>
                    </a:p>
                  </a:txBody>
                  <a:tcPr anchor="ctr" marL="73152" marR="73152">
                    <a:solidFill>
                      <a:srgbClr val="EEF3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/>
            <a:r>
              <a:rPr sz="1100" b="1">
                <a:solidFill>
                  <a:srgbClr val="0A524D"/>
                </a:solidFill>
                <a:latin typeface="Calibri"/>
              </a:rPr>
              <a:t>5 ·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2422"/>
                </a:solidFill>
                <a:latin typeface="Georgia"/>
              </a:rPr>
              <a:t>Resumen de avances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A524D"/>
                </a:solidFill>
                <a:latin typeface="Calibri"/>
              </a:rPr>
              <a:t>COMPLETADO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394960" cy="530352"/>
          </a:xfrm>
          <a:prstGeom prst="roundRect">
            <a:avLst>
              <a:gd name="adj" fmla="val 12000"/>
            </a:avLst>
          </a:prstGeom>
          <a:solidFill>
            <a:srgbClr val="DCEEEC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0">
                <a:solidFill>
                  <a:srgbClr val="0A524D"/>
                </a:solidFill>
                <a:latin typeface="Calibri"/>
              </a:rPr>
              <a:t>✓  Diseño y migración de las 7 tablas en PostgreSQL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5394960" cy="530352"/>
          </a:xfrm>
          <a:prstGeom prst="roundRect">
            <a:avLst>
              <a:gd name="adj" fmla="val 12000"/>
            </a:avLst>
          </a:prstGeom>
          <a:solidFill>
            <a:srgbClr val="DCEEEC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0">
                <a:solidFill>
                  <a:srgbClr val="0A524D"/>
                </a:solidFill>
                <a:latin typeface="Calibri"/>
              </a:rPr>
              <a:t>✓  API REST completa: pedidos, inventario, facturación,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65576"/>
            <a:ext cx="5394960" cy="530352"/>
          </a:xfrm>
          <a:prstGeom prst="roundRect">
            <a:avLst>
              <a:gd name="adj" fmla="val 12000"/>
            </a:avLst>
          </a:prstGeom>
          <a:solidFill>
            <a:srgbClr val="DCEEEC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0">
                <a:solidFill>
                  <a:srgbClr val="0A524D"/>
                </a:solidFill>
                <a:latin typeface="Calibri"/>
              </a:rPr>
              <a:t>✓  Autenticación con JWT + bcrypt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23944"/>
            <a:ext cx="5394960" cy="530352"/>
          </a:xfrm>
          <a:prstGeom prst="roundRect">
            <a:avLst>
              <a:gd name="adj" fmla="val 12000"/>
            </a:avLst>
          </a:prstGeom>
          <a:solidFill>
            <a:srgbClr val="DCEEEC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0">
                <a:solidFill>
                  <a:srgbClr val="0A524D"/>
                </a:solidFill>
                <a:latin typeface="Calibri"/>
              </a:rPr>
              <a:t>✓  Frontend con 5 páginas (Login, POS, Inventario, Facturación, Dashboard)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82312"/>
            <a:ext cx="5394960" cy="530352"/>
          </a:xfrm>
          <a:prstGeom prst="roundRect">
            <a:avLst>
              <a:gd name="adj" fmla="val 12000"/>
            </a:avLst>
          </a:prstGeom>
          <a:solidFill>
            <a:srgbClr val="DCEEEC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0">
                <a:solidFill>
                  <a:srgbClr val="0A524D"/>
                </a:solidFill>
                <a:latin typeface="Calibri"/>
              </a:rPr>
              <a:t>✓  Pruebas de extremo a extremo contra PostgreSQL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2611A"/>
                </a:solidFill>
                <a:latin typeface="Calibri"/>
              </a:rPr>
              <a:t>PENDIENTE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5394960" cy="530352"/>
          </a:xfrm>
          <a:prstGeom prst="roundRect">
            <a:avLst>
              <a:gd name="adj" fmla="val 12000"/>
            </a:avLst>
          </a:prstGeom>
          <a:solidFill>
            <a:srgbClr val="F3E1C8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0">
                <a:solidFill>
                  <a:srgbClr val="A2611A"/>
                </a:solidFill>
                <a:latin typeface="Calibri"/>
              </a:rPr>
              <a:t>→  Descuento automático de insumos al registrar un pedido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807208"/>
            <a:ext cx="5394960" cy="530352"/>
          </a:xfrm>
          <a:prstGeom prst="roundRect">
            <a:avLst>
              <a:gd name="adj" fmla="val 12000"/>
            </a:avLst>
          </a:prstGeom>
          <a:solidFill>
            <a:srgbClr val="F3E1C8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0">
                <a:solidFill>
                  <a:srgbClr val="A2611A"/>
                </a:solidFill>
                <a:latin typeface="Calibri"/>
              </a:rPr>
              <a:t>→  Permisos por rol (administrador vs. operador) en el frontend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465576"/>
            <a:ext cx="5394960" cy="530352"/>
          </a:xfrm>
          <a:prstGeom prst="roundRect">
            <a:avLst>
              <a:gd name="adj" fmla="val 12000"/>
            </a:avLst>
          </a:prstGeom>
          <a:solidFill>
            <a:srgbClr val="F3E1C8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0">
                <a:solidFill>
                  <a:srgbClr val="A2611A"/>
                </a:solidFill>
                <a:latin typeface="Calibri"/>
              </a:rPr>
              <a:t>→  Despliegue a Vercel / Render / Neon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123944"/>
            <a:ext cx="5394960" cy="530352"/>
          </a:xfrm>
          <a:prstGeom prst="roundRect">
            <a:avLst>
              <a:gd name="adj" fmla="val 12000"/>
            </a:avLst>
          </a:prstGeom>
          <a:solidFill>
            <a:srgbClr val="F3E1C8"/>
          </a:solidFill>
          <a:ln w="12700">
            <a:solidFill>
              <a:srgbClr val="CB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0">
                <a:solidFill>
                  <a:srgbClr val="A2611A"/>
                </a:solidFill>
                <a:latin typeface="Calibri"/>
              </a:rPr>
              <a:t>→  Reportes históricos más allá del día actual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6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Georgia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CEEEC"/>
                </a:solidFill>
                <a:latin typeface="Calibri"/>
              </a:rPr>
              <a:t>Preguntas sobre el análisis o la base de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